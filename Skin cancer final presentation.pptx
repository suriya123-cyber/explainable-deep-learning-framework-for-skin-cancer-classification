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70" r:id="rId12"/>
    <p:sldId id="266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78F6B9-B027-4798-802F-C761F0C95A5B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4702FE-C016-49DB-B3AA-D00E4F787FBE}">
      <dgm:prSet custT="1"/>
      <dgm:spPr/>
      <dgm:t>
        <a:bodyPr/>
        <a:lstStyle/>
        <a:p>
          <a:pPr algn="just"/>
          <a:r>
            <a:rPr lang="en-US" sz="1800" b="0"/>
            <a:t>Experiment</a:t>
          </a:r>
        </a:p>
      </dgm:t>
    </dgm:pt>
    <dgm:pt modelId="{3246D752-0A69-4F84-AE80-23BFFD9A79AE}" type="parTrans" cxnId="{38468237-B7E8-4927-BDB9-44B8C65B434C}">
      <dgm:prSet/>
      <dgm:spPr/>
      <dgm:t>
        <a:bodyPr/>
        <a:lstStyle/>
        <a:p>
          <a:endParaRPr lang="en-US"/>
        </a:p>
      </dgm:t>
    </dgm:pt>
    <dgm:pt modelId="{252D25AE-F371-4BEC-BCE5-0F471641EFA1}" type="sibTrans" cxnId="{38468237-B7E8-4927-BDB9-44B8C65B434C}">
      <dgm:prSet/>
      <dgm:spPr/>
      <dgm:t>
        <a:bodyPr/>
        <a:lstStyle/>
        <a:p>
          <a:endParaRPr lang="en-US"/>
        </a:p>
      </dgm:t>
    </dgm:pt>
    <dgm:pt modelId="{D9FA3CA2-087D-444A-A2A7-237454A8A66B}">
      <dgm:prSet custT="1"/>
      <dgm:spPr/>
      <dgm:t>
        <a:bodyPr/>
        <a:lstStyle/>
        <a:p>
          <a:pPr algn="just"/>
          <a:r>
            <a:rPr lang="en-US" sz="1800" b="0"/>
            <a:t>Experiment with EfficientNet, ConvNeXt, and Vision Transformers</a:t>
          </a:r>
        </a:p>
      </dgm:t>
    </dgm:pt>
    <dgm:pt modelId="{31F71574-BE5A-48ED-AB71-86A60AECFDBB}" type="parTrans" cxnId="{ADD8DD46-5E29-41FC-A25D-51CD0D5A762E}">
      <dgm:prSet/>
      <dgm:spPr/>
      <dgm:t>
        <a:bodyPr/>
        <a:lstStyle/>
        <a:p>
          <a:endParaRPr lang="en-US"/>
        </a:p>
      </dgm:t>
    </dgm:pt>
    <dgm:pt modelId="{04B36448-73F0-4273-BC95-C7E80C3938FC}" type="sibTrans" cxnId="{ADD8DD46-5E29-41FC-A25D-51CD0D5A762E}">
      <dgm:prSet/>
      <dgm:spPr/>
      <dgm:t>
        <a:bodyPr/>
        <a:lstStyle/>
        <a:p>
          <a:endParaRPr lang="en-US"/>
        </a:p>
      </dgm:t>
    </dgm:pt>
    <dgm:pt modelId="{C3D31EBA-881D-4A1B-9197-B0D67A81D063}">
      <dgm:prSet custT="1"/>
      <dgm:spPr/>
      <dgm:t>
        <a:bodyPr/>
        <a:lstStyle/>
        <a:p>
          <a:pPr algn="just"/>
          <a:r>
            <a:rPr lang="en-US" sz="1800" b="0"/>
            <a:t>Add</a:t>
          </a:r>
        </a:p>
      </dgm:t>
    </dgm:pt>
    <dgm:pt modelId="{5C94B7F3-A89C-4982-B536-0E98F2740D4F}" type="parTrans" cxnId="{E2E556CF-A2C8-4BC1-9473-6DAC22F91F44}">
      <dgm:prSet/>
      <dgm:spPr/>
      <dgm:t>
        <a:bodyPr/>
        <a:lstStyle/>
        <a:p>
          <a:endParaRPr lang="en-US"/>
        </a:p>
      </dgm:t>
    </dgm:pt>
    <dgm:pt modelId="{D66B88A4-7481-43E5-A819-7E3E59818559}" type="sibTrans" cxnId="{E2E556CF-A2C8-4BC1-9473-6DAC22F91F44}">
      <dgm:prSet/>
      <dgm:spPr/>
      <dgm:t>
        <a:bodyPr/>
        <a:lstStyle/>
        <a:p>
          <a:endParaRPr lang="en-US"/>
        </a:p>
      </dgm:t>
    </dgm:pt>
    <dgm:pt modelId="{71E496CC-49BC-482C-9251-94664C4C3ED5}">
      <dgm:prSet custT="1"/>
      <dgm:spPr/>
      <dgm:t>
        <a:bodyPr/>
        <a:lstStyle/>
        <a:p>
          <a:pPr algn="just"/>
          <a:r>
            <a:rPr lang="en-US" sz="1800" b="0" dirty="0"/>
            <a:t>Add metadata (age, lesion location) for multi-modal learning</a:t>
          </a:r>
        </a:p>
      </dgm:t>
    </dgm:pt>
    <dgm:pt modelId="{4E189698-CE8F-4486-B548-096655A5BEAC}" type="parTrans" cxnId="{54502C0F-4FFC-4191-BF8C-186FD65ED394}">
      <dgm:prSet/>
      <dgm:spPr/>
      <dgm:t>
        <a:bodyPr/>
        <a:lstStyle/>
        <a:p>
          <a:endParaRPr lang="en-US"/>
        </a:p>
      </dgm:t>
    </dgm:pt>
    <dgm:pt modelId="{C509D887-EEF1-42B7-B2DF-A0E7C14CCFB6}" type="sibTrans" cxnId="{54502C0F-4FFC-4191-BF8C-186FD65ED394}">
      <dgm:prSet/>
      <dgm:spPr/>
      <dgm:t>
        <a:bodyPr/>
        <a:lstStyle/>
        <a:p>
          <a:endParaRPr lang="en-US"/>
        </a:p>
      </dgm:t>
    </dgm:pt>
    <dgm:pt modelId="{D54229D5-A656-4899-BBE2-AD5F04E01D0D}">
      <dgm:prSet custT="1"/>
      <dgm:spPr/>
      <dgm:t>
        <a:bodyPr/>
        <a:lstStyle/>
        <a:p>
          <a:pPr algn="just"/>
          <a:r>
            <a:rPr lang="en-US" sz="1800" b="0"/>
            <a:t>Apply</a:t>
          </a:r>
        </a:p>
      </dgm:t>
    </dgm:pt>
    <dgm:pt modelId="{2BB5143E-9F9E-44AE-B0B1-1E3C8A201681}" type="parTrans" cxnId="{69A8A797-DE92-4302-AF6B-3ACCD8FA4D39}">
      <dgm:prSet/>
      <dgm:spPr/>
      <dgm:t>
        <a:bodyPr/>
        <a:lstStyle/>
        <a:p>
          <a:endParaRPr lang="en-US"/>
        </a:p>
      </dgm:t>
    </dgm:pt>
    <dgm:pt modelId="{6846E918-E1EC-4B73-B97D-E6C386B6C9E5}" type="sibTrans" cxnId="{69A8A797-DE92-4302-AF6B-3ACCD8FA4D39}">
      <dgm:prSet/>
      <dgm:spPr/>
      <dgm:t>
        <a:bodyPr/>
        <a:lstStyle/>
        <a:p>
          <a:endParaRPr lang="en-US"/>
        </a:p>
      </dgm:t>
    </dgm:pt>
    <dgm:pt modelId="{07E52EA3-590E-45D6-AD6C-B7A671273786}">
      <dgm:prSet custT="1"/>
      <dgm:spPr/>
      <dgm:t>
        <a:bodyPr/>
        <a:lstStyle/>
        <a:p>
          <a:pPr algn="just"/>
          <a:r>
            <a:rPr lang="en-US" sz="1800" b="0" dirty="0"/>
            <a:t>Apply segmentation or artifact removal (hair, rulers)</a:t>
          </a:r>
        </a:p>
      </dgm:t>
    </dgm:pt>
    <dgm:pt modelId="{6E1F0807-65BA-4001-A542-9CE1C73C4FE4}" type="parTrans" cxnId="{28E3CC79-AEB1-4DC2-9FBF-2468E9FD08B1}">
      <dgm:prSet/>
      <dgm:spPr/>
      <dgm:t>
        <a:bodyPr/>
        <a:lstStyle/>
        <a:p>
          <a:endParaRPr lang="en-US"/>
        </a:p>
      </dgm:t>
    </dgm:pt>
    <dgm:pt modelId="{02827049-11C4-439F-832E-19EDAB75499F}" type="sibTrans" cxnId="{28E3CC79-AEB1-4DC2-9FBF-2468E9FD08B1}">
      <dgm:prSet/>
      <dgm:spPr/>
      <dgm:t>
        <a:bodyPr/>
        <a:lstStyle/>
        <a:p>
          <a:endParaRPr lang="en-US"/>
        </a:p>
      </dgm:t>
    </dgm:pt>
    <dgm:pt modelId="{D0253919-677C-44C2-AF09-F11E5392918B}">
      <dgm:prSet custT="1"/>
      <dgm:spPr/>
      <dgm:t>
        <a:bodyPr/>
        <a:lstStyle/>
        <a:p>
          <a:pPr algn="just"/>
          <a:r>
            <a:rPr lang="en-US" sz="1800" b="0"/>
            <a:t>Deploy</a:t>
          </a:r>
        </a:p>
      </dgm:t>
    </dgm:pt>
    <dgm:pt modelId="{35A4E7A1-95A2-4B6A-A575-FF9F9382F03B}" type="parTrans" cxnId="{185D5881-8A2C-4A65-85D9-5E18B364A467}">
      <dgm:prSet/>
      <dgm:spPr/>
      <dgm:t>
        <a:bodyPr/>
        <a:lstStyle/>
        <a:p>
          <a:endParaRPr lang="en-US"/>
        </a:p>
      </dgm:t>
    </dgm:pt>
    <dgm:pt modelId="{AF75AD49-AAB3-4B74-8E2D-966559FFBA30}" type="sibTrans" cxnId="{185D5881-8A2C-4A65-85D9-5E18B364A467}">
      <dgm:prSet/>
      <dgm:spPr/>
      <dgm:t>
        <a:bodyPr/>
        <a:lstStyle/>
        <a:p>
          <a:endParaRPr lang="en-US"/>
        </a:p>
      </dgm:t>
    </dgm:pt>
    <dgm:pt modelId="{79D6F887-2559-4F3A-86B6-EBF8FA94F1FE}">
      <dgm:prSet custT="1"/>
      <dgm:spPr/>
      <dgm:t>
        <a:bodyPr/>
        <a:lstStyle/>
        <a:p>
          <a:pPr algn="just"/>
          <a:r>
            <a:rPr lang="en-US" sz="1800" b="0" dirty="0"/>
            <a:t>Deploy as a clinical decision-support tool with interactive visualizations</a:t>
          </a:r>
        </a:p>
      </dgm:t>
    </dgm:pt>
    <dgm:pt modelId="{A7A8ACDA-EA25-4D35-8CD4-C8813E86D4B4}" type="parTrans" cxnId="{4DFDD362-8CDB-4EE9-9229-34FA04F6E50E}">
      <dgm:prSet/>
      <dgm:spPr/>
      <dgm:t>
        <a:bodyPr/>
        <a:lstStyle/>
        <a:p>
          <a:endParaRPr lang="en-US"/>
        </a:p>
      </dgm:t>
    </dgm:pt>
    <dgm:pt modelId="{2EB51121-AAC1-4AA1-956C-2D59483BB3E5}" type="sibTrans" cxnId="{4DFDD362-8CDB-4EE9-9229-34FA04F6E50E}">
      <dgm:prSet/>
      <dgm:spPr/>
      <dgm:t>
        <a:bodyPr/>
        <a:lstStyle/>
        <a:p>
          <a:endParaRPr lang="en-US"/>
        </a:p>
      </dgm:t>
    </dgm:pt>
    <dgm:pt modelId="{E731754E-0CC0-42F0-BE85-CCB8293310A4}" type="pres">
      <dgm:prSet presAssocID="{C278F6B9-B027-4798-802F-C761F0C95A5B}" presName="Name0" presStyleCnt="0">
        <dgm:presLayoutVars>
          <dgm:dir/>
          <dgm:animLvl val="lvl"/>
          <dgm:resizeHandles val="exact"/>
        </dgm:presLayoutVars>
      </dgm:prSet>
      <dgm:spPr/>
    </dgm:pt>
    <dgm:pt modelId="{BF5141C5-04AF-49BD-B181-0728A0C3CCEF}" type="pres">
      <dgm:prSet presAssocID="{B64702FE-C016-49DB-B3AA-D00E4F787FBE}" presName="composite" presStyleCnt="0"/>
      <dgm:spPr/>
    </dgm:pt>
    <dgm:pt modelId="{C93F4599-A206-43BF-B2BE-7A9D080205B5}" type="pres">
      <dgm:prSet presAssocID="{B64702FE-C016-49DB-B3AA-D00E4F787FBE}" presName="parTx" presStyleLbl="alignNode1" presStyleIdx="0" presStyleCnt="4">
        <dgm:presLayoutVars>
          <dgm:chMax val="0"/>
          <dgm:chPref val="0"/>
        </dgm:presLayoutVars>
      </dgm:prSet>
      <dgm:spPr/>
    </dgm:pt>
    <dgm:pt modelId="{2D9B76EB-E2A1-4657-A3D2-953A35027747}" type="pres">
      <dgm:prSet presAssocID="{B64702FE-C016-49DB-B3AA-D00E4F787FBE}" presName="desTx" presStyleLbl="alignAccFollowNode1" presStyleIdx="0" presStyleCnt="4">
        <dgm:presLayoutVars/>
      </dgm:prSet>
      <dgm:spPr/>
    </dgm:pt>
    <dgm:pt modelId="{ECC42055-92F5-4D77-922C-ACF6FF73C4D3}" type="pres">
      <dgm:prSet presAssocID="{252D25AE-F371-4BEC-BCE5-0F471641EFA1}" presName="space" presStyleCnt="0"/>
      <dgm:spPr/>
    </dgm:pt>
    <dgm:pt modelId="{CBA2517F-3B40-4F4D-BD5F-2557A8737DB1}" type="pres">
      <dgm:prSet presAssocID="{C3D31EBA-881D-4A1B-9197-B0D67A81D063}" presName="composite" presStyleCnt="0"/>
      <dgm:spPr/>
    </dgm:pt>
    <dgm:pt modelId="{F3A70D19-73F1-48C8-862B-6219E6E6917D}" type="pres">
      <dgm:prSet presAssocID="{C3D31EBA-881D-4A1B-9197-B0D67A81D063}" presName="parTx" presStyleLbl="alignNode1" presStyleIdx="1" presStyleCnt="4">
        <dgm:presLayoutVars>
          <dgm:chMax val="0"/>
          <dgm:chPref val="0"/>
        </dgm:presLayoutVars>
      </dgm:prSet>
      <dgm:spPr/>
    </dgm:pt>
    <dgm:pt modelId="{201D74A4-DC6A-43D4-A2CD-183D9277ABA7}" type="pres">
      <dgm:prSet presAssocID="{C3D31EBA-881D-4A1B-9197-B0D67A81D063}" presName="desTx" presStyleLbl="alignAccFollowNode1" presStyleIdx="1" presStyleCnt="4">
        <dgm:presLayoutVars/>
      </dgm:prSet>
      <dgm:spPr/>
    </dgm:pt>
    <dgm:pt modelId="{20D42628-FEFC-4A73-8FCE-225CA18A28C0}" type="pres">
      <dgm:prSet presAssocID="{D66B88A4-7481-43E5-A819-7E3E59818559}" presName="space" presStyleCnt="0"/>
      <dgm:spPr/>
    </dgm:pt>
    <dgm:pt modelId="{7DFC9968-C007-4FCF-B6DB-BB63D546E34E}" type="pres">
      <dgm:prSet presAssocID="{D54229D5-A656-4899-BBE2-AD5F04E01D0D}" presName="composite" presStyleCnt="0"/>
      <dgm:spPr/>
    </dgm:pt>
    <dgm:pt modelId="{4603FE6F-7156-4391-8F19-AA239ECE4C4A}" type="pres">
      <dgm:prSet presAssocID="{D54229D5-A656-4899-BBE2-AD5F04E01D0D}" presName="parTx" presStyleLbl="alignNode1" presStyleIdx="2" presStyleCnt="4">
        <dgm:presLayoutVars>
          <dgm:chMax val="0"/>
          <dgm:chPref val="0"/>
        </dgm:presLayoutVars>
      </dgm:prSet>
      <dgm:spPr/>
    </dgm:pt>
    <dgm:pt modelId="{CC2877A9-F624-4410-A5C1-094F9966CF6C}" type="pres">
      <dgm:prSet presAssocID="{D54229D5-A656-4899-BBE2-AD5F04E01D0D}" presName="desTx" presStyleLbl="alignAccFollowNode1" presStyleIdx="2" presStyleCnt="4">
        <dgm:presLayoutVars/>
      </dgm:prSet>
      <dgm:spPr/>
    </dgm:pt>
    <dgm:pt modelId="{92F86830-835B-452A-92AB-5277AF07823C}" type="pres">
      <dgm:prSet presAssocID="{6846E918-E1EC-4B73-B97D-E6C386B6C9E5}" presName="space" presStyleCnt="0"/>
      <dgm:spPr/>
    </dgm:pt>
    <dgm:pt modelId="{0C75E5ED-BD11-4BF8-9510-180A0F0CD43B}" type="pres">
      <dgm:prSet presAssocID="{D0253919-677C-44C2-AF09-F11E5392918B}" presName="composite" presStyleCnt="0"/>
      <dgm:spPr/>
    </dgm:pt>
    <dgm:pt modelId="{9B418D30-6616-42B0-8ECF-8AB1870DC02A}" type="pres">
      <dgm:prSet presAssocID="{D0253919-677C-44C2-AF09-F11E5392918B}" presName="parTx" presStyleLbl="alignNode1" presStyleIdx="3" presStyleCnt="4">
        <dgm:presLayoutVars>
          <dgm:chMax val="0"/>
          <dgm:chPref val="0"/>
        </dgm:presLayoutVars>
      </dgm:prSet>
      <dgm:spPr/>
    </dgm:pt>
    <dgm:pt modelId="{F98D5AB3-70A3-4C6F-BF47-AEBDFFB90189}" type="pres">
      <dgm:prSet presAssocID="{D0253919-677C-44C2-AF09-F11E5392918B}" presName="desTx" presStyleLbl="alignAccFollowNode1" presStyleIdx="3" presStyleCnt="4">
        <dgm:presLayoutVars/>
      </dgm:prSet>
      <dgm:spPr/>
    </dgm:pt>
  </dgm:ptLst>
  <dgm:cxnLst>
    <dgm:cxn modelId="{54502C0F-4FFC-4191-BF8C-186FD65ED394}" srcId="{C3D31EBA-881D-4A1B-9197-B0D67A81D063}" destId="{71E496CC-49BC-482C-9251-94664C4C3ED5}" srcOrd="0" destOrd="0" parTransId="{4E189698-CE8F-4486-B548-096655A5BEAC}" sibTransId="{C509D887-EEF1-42B7-B2DF-A0E7C14CCFB6}"/>
    <dgm:cxn modelId="{38468237-B7E8-4927-BDB9-44B8C65B434C}" srcId="{C278F6B9-B027-4798-802F-C761F0C95A5B}" destId="{B64702FE-C016-49DB-B3AA-D00E4F787FBE}" srcOrd="0" destOrd="0" parTransId="{3246D752-0A69-4F84-AE80-23BFFD9A79AE}" sibTransId="{252D25AE-F371-4BEC-BCE5-0F471641EFA1}"/>
    <dgm:cxn modelId="{8A278762-708B-4AFF-BFF7-F22D48C23946}" type="presOf" srcId="{B64702FE-C016-49DB-B3AA-D00E4F787FBE}" destId="{C93F4599-A206-43BF-B2BE-7A9D080205B5}" srcOrd="0" destOrd="0" presId="urn:microsoft.com/office/officeart/2016/7/layout/HorizontalActionList"/>
    <dgm:cxn modelId="{4DFDD362-8CDB-4EE9-9229-34FA04F6E50E}" srcId="{D0253919-677C-44C2-AF09-F11E5392918B}" destId="{79D6F887-2559-4F3A-86B6-EBF8FA94F1FE}" srcOrd="0" destOrd="0" parTransId="{A7A8ACDA-EA25-4D35-8CD4-C8813E86D4B4}" sibTransId="{2EB51121-AAC1-4AA1-956C-2D59483BB3E5}"/>
    <dgm:cxn modelId="{98B22046-B2FB-4AA0-AD19-A6345F928873}" type="presOf" srcId="{C3D31EBA-881D-4A1B-9197-B0D67A81D063}" destId="{F3A70D19-73F1-48C8-862B-6219E6E6917D}" srcOrd="0" destOrd="0" presId="urn:microsoft.com/office/officeart/2016/7/layout/HorizontalActionList"/>
    <dgm:cxn modelId="{ADD8DD46-5E29-41FC-A25D-51CD0D5A762E}" srcId="{B64702FE-C016-49DB-B3AA-D00E4F787FBE}" destId="{D9FA3CA2-087D-444A-A2A7-237454A8A66B}" srcOrd="0" destOrd="0" parTransId="{31F71574-BE5A-48ED-AB71-86A60AECFDBB}" sibTransId="{04B36448-73F0-4273-BC95-C7E80C3938FC}"/>
    <dgm:cxn modelId="{64F03269-0614-4D4F-8A69-EF9529794DEA}" type="presOf" srcId="{71E496CC-49BC-482C-9251-94664C4C3ED5}" destId="{201D74A4-DC6A-43D4-A2CD-183D9277ABA7}" srcOrd="0" destOrd="0" presId="urn:microsoft.com/office/officeart/2016/7/layout/HorizontalActionList"/>
    <dgm:cxn modelId="{28E3CC79-AEB1-4DC2-9FBF-2468E9FD08B1}" srcId="{D54229D5-A656-4899-BBE2-AD5F04E01D0D}" destId="{07E52EA3-590E-45D6-AD6C-B7A671273786}" srcOrd="0" destOrd="0" parTransId="{6E1F0807-65BA-4001-A542-9CE1C73C4FE4}" sibTransId="{02827049-11C4-439F-832E-19EDAB75499F}"/>
    <dgm:cxn modelId="{185D5881-8A2C-4A65-85D9-5E18B364A467}" srcId="{C278F6B9-B027-4798-802F-C761F0C95A5B}" destId="{D0253919-677C-44C2-AF09-F11E5392918B}" srcOrd="3" destOrd="0" parTransId="{35A4E7A1-95A2-4B6A-A575-FF9F9382F03B}" sibTransId="{AF75AD49-AAB3-4B74-8E2D-966559FFBA30}"/>
    <dgm:cxn modelId="{5C091695-EB7E-40DD-ACD8-B3BF26E6CF93}" type="presOf" srcId="{D54229D5-A656-4899-BBE2-AD5F04E01D0D}" destId="{4603FE6F-7156-4391-8F19-AA239ECE4C4A}" srcOrd="0" destOrd="0" presId="urn:microsoft.com/office/officeart/2016/7/layout/HorizontalActionList"/>
    <dgm:cxn modelId="{69A8A797-DE92-4302-AF6B-3ACCD8FA4D39}" srcId="{C278F6B9-B027-4798-802F-C761F0C95A5B}" destId="{D54229D5-A656-4899-BBE2-AD5F04E01D0D}" srcOrd="2" destOrd="0" parTransId="{2BB5143E-9F9E-44AE-B0B1-1E3C8A201681}" sibTransId="{6846E918-E1EC-4B73-B97D-E6C386B6C9E5}"/>
    <dgm:cxn modelId="{7833F5B9-F10F-4473-8548-2A8B22CD152E}" type="presOf" srcId="{07E52EA3-590E-45D6-AD6C-B7A671273786}" destId="{CC2877A9-F624-4410-A5C1-094F9966CF6C}" srcOrd="0" destOrd="0" presId="urn:microsoft.com/office/officeart/2016/7/layout/HorizontalActionList"/>
    <dgm:cxn modelId="{30BF0BBF-DD2C-42A4-9623-42D345B35364}" type="presOf" srcId="{D0253919-677C-44C2-AF09-F11E5392918B}" destId="{9B418D30-6616-42B0-8ECF-8AB1870DC02A}" srcOrd="0" destOrd="0" presId="urn:microsoft.com/office/officeart/2016/7/layout/HorizontalActionList"/>
    <dgm:cxn modelId="{E2E556CF-A2C8-4BC1-9473-6DAC22F91F44}" srcId="{C278F6B9-B027-4798-802F-C761F0C95A5B}" destId="{C3D31EBA-881D-4A1B-9197-B0D67A81D063}" srcOrd="1" destOrd="0" parTransId="{5C94B7F3-A89C-4982-B536-0E98F2740D4F}" sibTransId="{D66B88A4-7481-43E5-A819-7E3E59818559}"/>
    <dgm:cxn modelId="{3D0597D8-CB21-4E83-ACF6-AB2D43D7252F}" type="presOf" srcId="{D9FA3CA2-087D-444A-A2A7-237454A8A66B}" destId="{2D9B76EB-E2A1-4657-A3D2-953A35027747}" srcOrd="0" destOrd="0" presId="urn:microsoft.com/office/officeart/2016/7/layout/HorizontalActionList"/>
    <dgm:cxn modelId="{F2D3CAD9-8E0C-41A1-B91D-3A809833B228}" type="presOf" srcId="{79D6F887-2559-4F3A-86B6-EBF8FA94F1FE}" destId="{F98D5AB3-70A3-4C6F-BF47-AEBDFFB90189}" srcOrd="0" destOrd="0" presId="urn:microsoft.com/office/officeart/2016/7/layout/HorizontalActionList"/>
    <dgm:cxn modelId="{F47F1CF8-F6C7-4C29-9ED1-C1909773045F}" type="presOf" srcId="{C278F6B9-B027-4798-802F-C761F0C95A5B}" destId="{E731754E-0CC0-42F0-BE85-CCB8293310A4}" srcOrd="0" destOrd="0" presId="urn:microsoft.com/office/officeart/2016/7/layout/HorizontalActionList"/>
    <dgm:cxn modelId="{66801710-A518-42C8-87D5-4585DA1BC325}" type="presParOf" srcId="{E731754E-0CC0-42F0-BE85-CCB8293310A4}" destId="{BF5141C5-04AF-49BD-B181-0728A0C3CCEF}" srcOrd="0" destOrd="0" presId="urn:microsoft.com/office/officeart/2016/7/layout/HorizontalActionList"/>
    <dgm:cxn modelId="{A983AED3-6967-451E-A570-6FDEC3BC760F}" type="presParOf" srcId="{BF5141C5-04AF-49BD-B181-0728A0C3CCEF}" destId="{C93F4599-A206-43BF-B2BE-7A9D080205B5}" srcOrd="0" destOrd="0" presId="urn:microsoft.com/office/officeart/2016/7/layout/HorizontalActionList"/>
    <dgm:cxn modelId="{B87BDFBE-6BEB-46B5-B336-CA10428DD191}" type="presParOf" srcId="{BF5141C5-04AF-49BD-B181-0728A0C3CCEF}" destId="{2D9B76EB-E2A1-4657-A3D2-953A35027747}" srcOrd="1" destOrd="0" presId="urn:microsoft.com/office/officeart/2016/7/layout/HorizontalActionList"/>
    <dgm:cxn modelId="{DB6FD672-B775-4685-A0E5-97B3A1C1CAD9}" type="presParOf" srcId="{E731754E-0CC0-42F0-BE85-CCB8293310A4}" destId="{ECC42055-92F5-4D77-922C-ACF6FF73C4D3}" srcOrd="1" destOrd="0" presId="urn:microsoft.com/office/officeart/2016/7/layout/HorizontalActionList"/>
    <dgm:cxn modelId="{DB2D16B5-C3BB-4FFA-9278-E59D720C347E}" type="presParOf" srcId="{E731754E-0CC0-42F0-BE85-CCB8293310A4}" destId="{CBA2517F-3B40-4F4D-BD5F-2557A8737DB1}" srcOrd="2" destOrd="0" presId="urn:microsoft.com/office/officeart/2016/7/layout/HorizontalActionList"/>
    <dgm:cxn modelId="{31CA8D6A-5EB9-45AD-94AD-A89CDA24BDBD}" type="presParOf" srcId="{CBA2517F-3B40-4F4D-BD5F-2557A8737DB1}" destId="{F3A70D19-73F1-48C8-862B-6219E6E6917D}" srcOrd="0" destOrd="0" presId="urn:microsoft.com/office/officeart/2016/7/layout/HorizontalActionList"/>
    <dgm:cxn modelId="{257585DF-9412-408B-B0B2-487D649904B7}" type="presParOf" srcId="{CBA2517F-3B40-4F4D-BD5F-2557A8737DB1}" destId="{201D74A4-DC6A-43D4-A2CD-183D9277ABA7}" srcOrd="1" destOrd="0" presId="urn:microsoft.com/office/officeart/2016/7/layout/HorizontalActionList"/>
    <dgm:cxn modelId="{D68DE242-781C-4570-8E9A-F1553C85833A}" type="presParOf" srcId="{E731754E-0CC0-42F0-BE85-CCB8293310A4}" destId="{20D42628-FEFC-4A73-8FCE-225CA18A28C0}" srcOrd="3" destOrd="0" presId="urn:microsoft.com/office/officeart/2016/7/layout/HorizontalActionList"/>
    <dgm:cxn modelId="{954BBF49-7433-4577-8A5C-12758F903503}" type="presParOf" srcId="{E731754E-0CC0-42F0-BE85-CCB8293310A4}" destId="{7DFC9968-C007-4FCF-B6DB-BB63D546E34E}" srcOrd="4" destOrd="0" presId="urn:microsoft.com/office/officeart/2016/7/layout/HorizontalActionList"/>
    <dgm:cxn modelId="{550618A0-1642-4B87-838D-E024DE3E69DC}" type="presParOf" srcId="{7DFC9968-C007-4FCF-B6DB-BB63D546E34E}" destId="{4603FE6F-7156-4391-8F19-AA239ECE4C4A}" srcOrd="0" destOrd="0" presId="urn:microsoft.com/office/officeart/2016/7/layout/HorizontalActionList"/>
    <dgm:cxn modelId="{142532F1-641D-4BF0-B08B-629B140085E0}" type="presParOf" srcId="{7DFC9968-C007-4FCF-B6DB-BB63D546E34E}" destId="{CC2877A9-F624-4410-A5C1-094F9966CF6C}" srcOrd="1" destOrd="0" presId="urn:microsoft.com/office/officeart/2016/7/layout/HorizontalActionList"/>
    <dgm:cxn modelId="{B1CAF327-B74F-4109-A2BA-3938C675B4E7}" type="presParOf" srcId="{E731754E-0CC0-42F0-BE85-CCB8293310A4}" destId="{92F86830-835B-452A-92AB-5277AF07823C}" srcOrd="5" destOrd="0" presId="urn:microsoft.com/office/officeart/2016/7/layout/HorizontalActionList"/>
    <dgm:cxn modelId="{B9D5FE01-4F52-4F57-9089-8448DAE3F945}" type="presParOf" srcId="{E731754E-0CC0-42F0-BE85-CCB8293310A4}" destId="{0C75E5ED-BD11-4BF8-9510-180A0F0CD43B}" srcOrd="6" destOrd="0" presId="urn:microsoft.com/office/officeart/2016/7/layout/HorizontalActionList"/>
    <dgm:cxn modelId="{9303523B-F8EB-419F-B0AE-34BC6336B1FF}" type="presParOf" srcId="{0C75E5ED-BD11-4BF8-9510-180A0F0CD43B}" destId="{9B418D30-6616-42B0-8ECF-8AB1870DC02A}" srcOrd="0" destOrd="0" presId="urn:microsoft.com/office/officeart/2016/7/layout/HorizontalActionList"/>
    <dgm:cxn modelId="{111A9E46-285E-41F0-84CB-9D8F39E3A326}" type="presParOf" srcId="{0C75E5ED-BD11-4BF8-9510-180A0F0CD43B}" destId="{F98D5AB3-70A3-4C6F-BF47-AEBDFFB90189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F4599-A206-43BF-B2BE-7A9D080205B5}">
      <dsp:nvSpPr>
        <dsp:cNvPr id="0" name=""/>
        <dsp:cNvSpPr/>
      </dsp:nvSpPr>
      <dsp:spPr>
        <a:xfrm>
          <a:off x="7956" y="848359"/>
          <a:ext cx="2266981" cy="68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142" tIns="179142" rIns="179142" bIns="179142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Experiment</a:t>
          </a:r>
        </a:p>
      </dsp:txBody>
      <dsp:txXfrm>
        <a:off x="7956" y="848359"/>
        <a:ext cx="2266981" cy="680094"/>
      </dsp:txXfrm>
    </dsp:sp>
    <dsp:sp modelId="{2D9B76EB-E2A1-4657-A3D2-953A35027747}">
      <dsp:nvSpPr>
        <dsp:cNvPr id="0" name=""/>
        <dsp:cNvSpPr/>
      </dsp:nvSpPr>
      <dsp:spPr>
        <a:xfrm>
          <a:off x="7956" y="1528454"/>
          <a:ext cx="2266981" cy="18649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927" tIns="223927" rIns="223927" bIns="223927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Experiment with EfficientNet, ConvNeXt, and Vision Transformers</a:t>
          </a:r>
        </a:p>
      </dsp:txBody>
      <dsp:txXfrm>
        <a:off x="7956" y="1528454"/>
        <a:ext cx="2266981" cy="1864985"/>
      </dsp:txXfrm>
    </dsp:sp>
    <dsp:sp modelId="{F3A70D19-73F1-48C8-862B-6219E6E6917D}">
      <dsp:nvSpPr>
        <dsp:cNvPr id="0" name=""/>
        <dsp:cNvSpPr/>
      </dsp:nvSpPr>
      <dsp:spPr>
        <a:xfrm>
          <a:off x="2382833" y="848359"/>
          <a:ext cx="2266981" cy="68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142" tIns="179142" rIns="179142" bIns="179142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Add</a:t>
          </a:r>
        </a:p>
      </dsp:txBody>
      <dsp:txXfrm>
        <a:off x="2382833" y="848359"/>
        <a:ext cx="2266981" cy="680094"/>
      </dsp:txXfrm>
    </dsp:sp>
    <dsp:sp modelId="{201D74A4-DC6A-43D4-A2CD-183D9277ABA7}">
      <dsp:nvSpPr>
        <dsp:cNvPr id="0" name=""/>
        <dsp:cNvSpPr/>
      </dsp:nvSpPr>
      <dsp:spPr>
        <a:xfrm>
          <a:off x="2382833" y="1528454"/>
          <a:ext cx="2266981" cy="18649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927" tIns="223927" rIns="223927" bIns="223927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Add metadata (age, lesion location) for multi-modal learning</a:t>
          </a:r>
        </a:p>
      </dsp:txBody>
      <dsp:txXfrm>
        <a:off x="2382833" y="1528454"/>
        <a:ext cx="2266981" cy="1864985"/>
      </dsp:txXfrm>
    </dsp:sp>
    <dsp:sp modelId="{4603FE6F-7156-4391-8F19-AA239ECE4C4A}">
      <dsp:nvSpPr>
        <dsp:cNvPr id="0" name=""/>
        <dsp:cNvSpPr/>
      </dsp:nvSpPr>
      <dsp:spPr>
        <a:xfrm>
          <a:off x="4757709" y="848359"/>
          <a:ext cx="2266981" cy="68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142" tIns="179142" rIns="179142" bIns="179142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Apply</a:t>
          </a:r>
        </a:p>
      </dsp:txBody>
      <dsp:txXfrm>
        <a:off x="4757709" y="848359"/>
        <a:ext cx="2266981" cy="680094"/>
      </dsp:txXfrm>
    </dsp:sp>
    <dsp:sp modelId="{CC2877A9-F624-4410-A5C1-094F9966CF6C}">
      <dsp:nvSpPr>
        <dsp:cNvPr id="0" name=""/>
        <dsp:cNvSpPr/>
      </dsp:nvSpPr>
      <dsp:spPr>
        <a:xfrm>
          <a:off x="4757709" y="1528454"/>
          <a:ext cx="2266981" cy="18649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927" tIns="223927" rIns="223927" bIns="223927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Apply segmentation or artifact removal (hair, rulers)</a:t>
          </a:r>
        </a:p>
      </dsp:txBody>
      <dsp:txXfrm>
        <a:off x="4757709" y="1528454"/>
        <a:ext cx="2266981" cy="1864985"/>
      </dsp:txXfrm>
    </dsp:sp>
    <dsp:sp modelId="{9B418D30-6616-42B0-8ECF-8AB1870DC02A}">
      <dsp:nvSpPr>
        <dsp:cNvPr id="0" name=""/>
        <dsp:cNvSpPr/>
      </dsp:nvSpPr>
      <dsp:spPr>
        <a:xfrm>
          <a:off x="7132586" y="848359"/>
          <a:ext cx="2266981" cy="6800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142" tIns="179142" rIns="179142" bIns="179142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Deploy</a:t>
          </a:r>
        </a:p>
      </dsp:txBody>
      <dsp:txXfrm>
        <a:off x="7132586" y="848359"/>
        <a:ext cx="2266981" cy="680094"/>
      </dsp:txXfrm>
    </dsp:sp>
    <dsp:sp modelId="{F98D5AB3-70A3-4C6F-BF47-AEBDFFB90189}">
      <dsp:nvSpPr>
        <dsp:cNvPr id="0" name=""/>
        <dsp:cNvSpPr/>
      </dsp:nvSpPr>
      <dsp:spPr>
        <a:xfrm>
          <a:off x="7132586" y="1528454"/>
          <a:ext cx="2266981" cy="18649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927" tIns="223927" rIns="223927" bIns="223927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Deploy as a clinical decision-support tool with interactive visualizations</a:t>
          </a:r>
        </a:p>
      </dsp:txBody>
      <dsp:txXfrm>
        <a:off x="7132586" y="1528454"/>
        <a:ext cx="2266981" cy="1864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DB963-7BDB-43F5-922E-79C0D7CB6F1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28E37-16D1-43AC-9D72-7E7EDB764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3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28E37-16D1-43AC-9D72-7E7EDB7646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3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158D-A8CF-4ADD-AEFE-7E2CDBA54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8F579-8C4E-6D96-4BF3-ABAC8E459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A7D97-39F6-DC37-0BE4-BC6E0B5A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87F45-B928-4B6F-908A-319D6706BECB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74CFF-92D0-3371-7CD5-53DC344D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3E51-0C43-F4AF-780F-9F823818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7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EC28-0317-4606-AFF5-6BEF6FC8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A4CCD-7169-A46F-1AAC-F95CDA67E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8827E-6D82-7D41-A152-02FE48B6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87902-6D5E-4690-85FA-B73F499DBFF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751E-D09E-8AF4-785F-0EDD4A4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BF50A-4068-4A19-DE70-EFD8611A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3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1998-D34E-ECD5-D2AB-232FFEF6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20EC9-DC33-467A-4E54-6A26DAC67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E947-A8F8-5523-84CA-39232C23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70C6-67A9-4E60-AD3B-024DCFA0471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C46BA-4247-DD8E-9E6F-B0209758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8A15E-EA5B-2FB3-2D97-3B18E973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7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D5DA-4F67-6DB0-DD10-39539FB0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3BA8-2F8D-A6B8-0E21-C5792A60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57DCA-0FC3-F137-9FCA-3B294C4C0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688BA-3E95-994E-01B5-AB5732AE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7D6C-C120-4577-841C-FC90F21C5A41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3C970-9985-71E5-AB48-D6DBEEC7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0AC0F-E287-73D9-D8F5-3B43F7B5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2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9184-1194-3563-0351-541AC6DF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BBEEC-EC6C-9C0C-3771-2860BFF3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2FB21-4495-A1ED-CE33-3DB0F87B6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4F6A1-DC98-12F2-DB44-028D539D6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E815D-6173-C882-40A4-15C4460C0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B30C0-619B-ABDE-E5CA-16380E7F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25DC6-A8F1-4F14-8EDB-30CF328CD38B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236C1-107C-3A37-A9D6-5353432E4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D14AF-5095-1EFE-BAF9-D93272F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5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4D5D-BD77-8B3A-89FA-21EB48EF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DA84F-766C-4620-F98D-5B39E323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98E34-DC2F-4E6D-B3C6-52DD43686289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47031-9043-B1C7-D152-06DAD70B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9BB81-1EFE-C4F3-E476-C851AFC8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9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9C38F2-F864-DC8F-E507-3D7F5822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D891-1DFC-453D-9FBD-D4BEE36A2F6A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C1335-5A50-70CA-90E6-C5233AC6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E8C58-1AFF-B0FB-FF20-C518CAFE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779F-7894-0DC0-6180-001ED541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8B44E-83F1-91BA-527A-1F7ABAE41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0854B-13A9-FE1D-78AA-05BD1B78A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AC416-20F7-7965-1A6A-8AA050EC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A48B-005E-4493-8BC0-F6B9312D44CF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3DEA1-D97E-97D3-F3A9-BE44EE3D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86F28-F11E-008D-D38E-1252D47E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3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5F84-699C-2535-EBC0-D22BF2BD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D1F27-9316-BAEE-E114-31CA9FBFF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AD0EF-F228-2818-F602-66D817CD9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59F8D-5AC8-F597-9E0D-4DE3521F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EF95-C0A2-4E5A-A803-F88B3B69B88E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7A9F9-DF7D-0227-AEEA-02B28068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2CEB3-D061-5123-1B8E-EB7A3495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1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94DA-7ECA-1BDA-E762-FE13F8A7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3D22A-336A-5411-D57B-DE857C9B9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FEF8A-C400-A152-9BD6-051AFBE2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123E-7CA0-4F3C-8709-285CC93F7DA8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BC9FF-9DB4-520F-33D2-CEBEEEFE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CECB7-EBB1-7973-3D16-84678969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3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BFE98-FBD1-6402-5301-1381D1E43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CE181-A84B-FB94-671A-C6FAF29EF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92F7-8ED9-FFF9-6BA0-BAABABF0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F51EB-F770-4174-A6BE-F79796E22BA1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ACE2-43A9-A282-3C44-B2EF61A8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98EC1-1FFF-A065-7972-A7794D0A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0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A813E-61CB-CDB2-8788-0E41DC58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00494-4C23-1029-5420-9363224B5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7D11-791B-674B-BABE-0E577E144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DF1DB-4CCC-4A2D-A139-E5A4D63B735C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E5C7C-31F1-26A3-6907-42C31920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20ACD-9EA7-BE08-8E33-8EB8D810C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4A282-A106-48C2-98FE-1F33BBC3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54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human body&#10;&#10;AI-generated content may be incorrect.">
            <a:extLst>
              <a:ext uri="{FF2B5EF4-FFF2-40B4-BE49-F238E27FC236}">
                <a16:creationId xmlns:a16="http://schemas.microsoft.com/office/drawing/2014/main" id="{6E36AB29-FA7B-107B-B5C4-C51277794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" r="1846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B9116-4921-9E27-7368-31739075E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736" y="1122363"/>
            <a:ext cx="4407407" cy="3204134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</a:rPr>
              <a:t>Explainable Deep Learning Framework for Skin Cancer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C9820-EAFB-51E9-243A-892276D6C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6108192"/>
            <a:ext cx="4023359" cy="557784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Suriya Islam Chowdhury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593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BC9EE-4078-B5BA-FD59-317657AE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/>
              <a:t>Problem Statement &amp; Dataset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DD3772-5323-2339-DB59-C3556202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00" y="618563"/>
            <a:ext cx="10635140" cy="247210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DF3E8-3FB6-3AC3-33BF-3740699CE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844" y="3090672"/>
            <a:ext cx="5533596" cy="3520439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CNNs perform well but operate as black boxes.</a:t>
            </a:r>
          </a:p>
          <a:p>
            <a:pPr algn="just"/>
            <a:r>
              <a:rPr lang="en-US" sz="1600" dirty="0"/>
              <a:t>Clinicians need to understand why a model makes a prediction.</a:t>
            </a:r>
          </a:p>
          <a:p>
            <a:pPr marL="0" indent="0" algn="just">
              <a:buNone/>
            </a:pPr>
            <a:r>
              <a:rPr lang="en-US" sz="1600" b="1" dirty="0"/>
              <a:t>Objective:</a:t>
            </a:r>
          </a:p>
          <a:p>
            <a:pPr algn="just"/>
            <a:r>
              <a:rPr lang="en-US" sz="1600" dirty="0"/>
              <a:t>Build a multi-class classifier for 7 skin lesion types.</a:t>
            </a:r>
          </a:p>
          <a:p>
            <a:pPr algn="just"/>
            <a:r>
              <a:rPr lang="en-US" sz="1600" dirty="0"/>
              <a:t>Integrate explainability techniques (Grad-CAM, IG, SHAP).</a:t>
            </a:r>
          </a:p>
          <a:p>
            <a:pPr algn="just"/>
            <a:r>
              <a:rPr lang="en-US" sz="1600" dirty="0"/>
              <a:t>Ensure both accuracy and clinical interpretability.</a:t>
            </a:r>
          </a:p>
          <a:p>
            <a:pPr marL="0" indent="0" algn="just">
              <a:buNone/>
            </a:pPr>
            <a:r>
              <a:rPr lang="en-US" sz="1600" b="1" dirty="0"/>
              <a:t>Dataset: HAM10000</a:t>
            </a:r>
          </a:p>
          <a:p>
            <a:pPr algn="just"/>
            <a:r>
              <a:rPr lang="en-US" sz="1600" dirty="0"/>
              <a:t>Total: 10,015 dermatoscopic images</a:t>
            </a:r>
          </a:p>
          <a:p>
            <a:pPr algn="just"/>
            <a:r>
              <a:rPr lang="en-US" sz="1600" dirty="0"/>
              <a:t>7 lesion categories: MEL, NV, BCC, AKIEC, BKL, DF, VASC</a:t>
            </a:r>
          </a:p>
          <a:p>
            <a:pPr marL="0" indent="0" algn="just"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491D-FAB5-EFE5-FE7E-B11882CB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4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41B1-ABB9-32F8-CEB4-33E108F42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27" y="943280"/>
            <a:ext cx="6521991" cy="452381"/>
          </a:xfrm>
        </p:spPr>
        <p:txBody>
          <a:bodyPr anchor="t">
            <a:noAutofit/>
          </a:bodyPr>
          <a:lstStyle/>
          <a:p>
            <a:pPr algn="ctr"/>
            <a:r>
              <a:rPr lang="en-US" sz="2800" b="1" dirty="0"/>
              <a:t>Preprocessing Pipeline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99D40F58-7273-21BB-384E-253CC0D91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956" y="287919"/>
            <a:ext cx="4273617" cy="110774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87A8-6825-F12D-21EE-0FBC047A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12" y="1600200"/>
            <a:ext cx="7031736" cy="5185610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Resize images to 224×224 (ResNet50 requirement)</a:t>
            </a:r>
          </a:p>
          <a:p>
            <a:pPr algn="just"/>
            <a:r>
              <a:rPr lang="en-US" sz="1800" dirty="0"/>
              <a:t>ImageNet normalization</a:t>
            </a:r>
          </a:p>
          <a:p>
            <a:pPr algn="just"/>
            <a:r>
              <a:rPr lang="en-US" sz="1800" dirty="0"/>
              <a:t>Data augmentation: rotation, flipping</a:t>
            </a:r>
          </a:p>
          <a:p>
            <a:pPr algn="just"/>
            <a:r>
              <a:rPr lang="en-US" sz="1800" dirty="0"/>
              <a:t>Class-weighted sampling to reduce imbalance</a:t>
            </a:r>
          </a:p>
          <a:p>
            <a:pPr algn="just"/>
            <a:r>
              <a:rPr lang="en-US" sz="1800" dirty="0"/>
              <a:t>Custom PyTorch Dataset &amp; DataLoader for efficient batching</a:t>
            </a:r>
          </a:p>
          <a:p>
            <a:pPr marL="0" indent="0" algn="just">
              <a:buNone/>
            </a:pPr>
            <a:r>
              <a:rPr lang="en-US" sz="1800" b="1" dirty="0"/>
              <a:t> </a:t>
            </a:r>
            <a:r>
              <a:rPr lang="en-US" sz="1800" b="1" dirty="0" err="1"/>
              <a:t>ColorJitter</a:t>
            </a:r>
            <a:endParaRPr lang="en-US" sz="1800" b="1" dirty="0"/>
          </a:p>
          <a:p>
            <a:pPr algn="just"/>
            <a:r>
              <a:rPr lang="en-US" sz="1800" dirty="0"/>
              <a:t>Brightness </a:t>
            </a:r>
          </a:p>
          <a:p>
            <a:pPr algn="just"/>
            <a:r>
              <a:rPr lang="en-US" sz="1800" dirty="0"/>
              <a:t>Contrast</a:t>
            </a:r>
          </a:p>
          <a:p>
            <a:pPr algn="just"/>
            <a:r>
              <a:rPr lang="en-US" sz="1800" dirty="0"/>
              <a:t>Saturation</a:t>
            </a:r>
          </a:p>
          <a:p>
            <a:pPr algn="just"/>
            <a:r>
              <a:rPr lang="en-US" sz="1800" dirty="0"/>
              <a:t>This augmentation forces the model to focus on lesion structure and pattern rather than being overly sensitive to small lighting changes.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F9B5F8-0E5D-9B8E-D692-ED3FB3949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956" y="1395661"/>
            <a:ext cx="4273617" cy="1107743"/>
          </a:xfrm>
          <a:prstGeom prst="rect">
            <a:avLst/>
          </a:prstGeom>
        </p:spPr>
      </p:pic>
      <p:pic>
        <p:nvPicPr>
          <p:cNvPr id="18" name="Picture 1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18D1317-5837-CFD8-373E-489555EBD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920" y="2503403"/>
            <a:ext cx="4620768" cy="42824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FCA2A-21BC-ED5C-DFEF-8F0B808C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6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F6B60-52AF-927B-4FDB-86206FFCF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/>
              <a:t>Model Architecture</a:t>
            </a:r>
          </a:p>
        </p:txBody>
      </p:sp>
      <p:pic>
        <p:nvPicPr>
          <p:cNvPr id="5" name="Picture 4" descr="A diagram of a model architecture&#10;&#10;AI-generated content may be incorrect.">
            <a:extLst>
              <a:ext uri="{FF2B5EF4-FFF2-40B4-BE49-F238E27FC236}">
                <a16:creationId xmlns:a16="http://schemas.microsoft.com/office/drawing/2014/main" id="{81A6C87F-ED43-6610-53E9-971008F0A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18" y="356138"/>
            <a:ext cx="11049802" cy="316185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952C56-EE0E-C94A-9A44-E17DD73E8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6300" y="394327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BA6C6-D9E0-36B2-9ED6-8AE77C0D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392" y="3854885"/>
            <a:ext cx="6243428" cy="2384552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Backbone: ResNet50 pretrained on ImageNet</a:t>
            </a:r>
          </a:p>
          <a:p>
            <a:pPr algn="just"/>
            <a:r>
              <a:rPr lang="en-US" sz="2000" dirty="0"/>
              <a:t>Replaced final FC layer → 7-class output</a:t>
            </a:r>
          </a:p>
          <a:p>
            <a:pPr algn="just"/>
            <a:r>
              <a:rPr lang="en-US" sz="2000" dirty="0"/>
              <a:t>Loss: Class-weighted Cross Entropy</a:t>
            </a:r>
          </a:p>
          <a:p>
            <a:pPr algn="just"/>
            <a:r>
              <a:rPr lang="en-US" sz="2000" dirty="0"/>
              <a:t>Optimizer: AdamW (LR=1e-4, WD=1e-4)</a:t>
            </a:r>
          </a:p>
          <a:p>
            <a:pPr algn="just"/>
            <a:r>
              <a:rPr lang="en-US" sz="2000" dirty="0"/>
              <a:t>Implemented using PyTorch with GPU acceleration</a:t>
            </a:r>
          </a:p>
          <a:p>
            <a:pPr marL="0" indent="0" algn="just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0FD2D-74E8-76C0-B872-DB3B7F49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87E3-6439-55F8-BB90-3E2B6928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" y="950980"/>
            <a:ext cx="5620512" cy="512055"/>
          </a:xfrm>
        </p:spPr>
        <p:txBody>
          <a:bodyPr anchor="t">
            <a:noAutofit/>
          </a:bodyPr>
          <a:lstStyle/>
          <a:p>
            <a:pPr algn="ctr"/>
            <a:r>
              <a:rPr lang="en-US" sz="3600" b="1" dirty="0"/>
              <a:t>Model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B0D7F-2680-6F6E-FF59-AA3F2C0D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488" y="1993392"/>
            <a:ext cx="5620512" cy="4160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Feature Extraction Backbone (ResNet50)</a:t>
            </a:r>
          </a:p>
          <a:p>
            <a:r>
              <a:rPr lang="en-US" sz="1700" dirty="0"/>
              <a:t>Starts with a 7×7 convolution → BatchNorm → ReLU → MaxPool.</a:t>
            </a:r>
          </a:p>
          <a:p>
            <a:r>
              <a:rPr lang="en-US" sz="1700" dirty="0"/>
              <a:t>Followed by four residual stages (layer1–layer4) made of bottleneck blocks with skip connections.</a:t>
            </a:r>
          </a:p>
          <a:p>
            <a:r>
              <a:rPr lang="en-US" sz="1700" dirty="0"/>
              <a:t>Channel progression across stages:</a:t>
            </a:r>
          </a:p>
          <a:p>
            <a:r>
              <a:rPr lang="en-US" sz="1700" dirty="0"/>
              <a:t>Layer1: 64 → 256</a:t>
            </a:r>
          </a:p>
          <a:p>
            <a:r>
              <a:rPr lang="en-US" sz="1700" dirty="0"/>
              <a:t>Layer2: 128 → 512</a:t>
            </a:r>
          </a:p>
          <a:p>
            <a:r>
              <a:rPr lang="en-US" sz="1700" dirty="0"/>
              <a:t>Layer3: 256 → 1024</a:t>
            </a:r>
          </a:p>
          <a:p>
            <a:r>
              <a:rPr lang="en-US" sz="1700" dirty="0"/>
              <a:t>Layer4: 512 → 2048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99EF270-AD79-5FFF-2E39-9EA0679E0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264" y="540530"/>
            <a:ext cx="5315712" cy="56135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E4CE1-0D05-A3C6-6094-22E78443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4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7699-5379-0A33-F735-8B3E6317F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27"/>
            <a:ext cx="10515600" cy="4620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Results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3A9975C-D95D-C629-6343-4F6F76D08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2" y="1000125"/>
            <a:ext cx="5172797" cy="1448478"/>
          </a:xfr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8F768D8-50F9-8566-698A-F886D2AAB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79" y="2701469"/>
            <a:ext cx="5172797" cy="1587068"/>
          </a:xfrm>
          <a:prstGeom prst="rect">
            <a:avLst/>
          </a:prstGeom>
        </p:spPr>
      </p:pic>
      <p:pic>
        <p:nvPicPr>
          <p:cNvPr id="9" name="Picture 8" descr="A screenshot of a table&#10;&#10;AI-generated content may be incorrect.">
            <a:extLst>
              <a:ext uri="{FF2B5EF4-FFF2-40B4-BE49-F238E27FC236}">
                <a16:creationId xmlns:a16="http://schemas.microsoft.com/office/drawing/2014/main" id="{A49D79F2-505B-98CA-9449-F8B950BC0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42" y="4541403"/>
            <a:ext cx="4992624" cy="204626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3FAE75-9074-12C1-46A5-B6C941021F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1520"/>
            <a:ext cx="5877745" cy="60398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7484C-243C-62CA-1E33-C25F56A5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00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AB6D7AF-734C-43E5-AE74-E8EC5D46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684C5-1FF6-55C5-EE57-20F5EB86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2"/>
            <a:ext cx="5333999" cy="8138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b="1" dirty="0"/>
              <a:t>Per-class Test Accuracy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6830A5B-65B2-40C0-80F8-67EFC8A6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1" y="0"/>
            <a:ext cx="5410196" cy="6862190"/>
          </a:xfrm>
          <a:prstGeom prst="rect">
            <a:avLst/>
          </a:prstGeom>
          <a:ln>
            <a:noFill/>
          </a:ln>
          <a:effectLst>
            <a:outerShdw blurRad="317500" dist="2540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5F1D381F-8FA2-A659-277D-C0928F23A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185416"/>
            <a:ext cx="5333999" cy="4050792"/>
          </a:xfrm>
          <a:prstGeom prst="rect">
            <a:avLst/>
          </a:prstGeom>
        </p:spPr>
      </p:pic>
      <p:pic>
        <p:nvPicPr>
          <p:cNvPr id="7" name="Picture 6" descr="A graph of a test set&#10;&#10;AI-generated content may be incorrect.">
            <a:extLst>
              <a:ext uri="{FF2B5EF4-FFF2-40B4-BE49-F238E27FC236}">
                <a16:creationId xmlns:a16="http://schemas.microsoft.com/office/drawing/2014/main" id="{AE1D6440-6B86-53DE-B309-59780AFDB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691" y="231006"/>
            <a:ext cx="4922479" cy="63911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28740-D202-189D-4597-26711BB9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3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C912-C063-55B8-B1C1-19E1C5D0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214261" cy="837068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/>
              <a:t>Grad-CAM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-up of several images of a person's skin&#10;&#10;AI-generated content may be incorrect.">
            <a:extLst>
              <a:ext uri="{FF2B5EF4-FFF2-40B4-BE49-F238E27FC236}">
                <a16:creationId xmlns:a16="http://schemas.microsoft.com/office/drawing/2014/main" id="{728CB8A1-7F7F-B8A9-B5DB-CE2799B6A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47" y="2402201"/>
            <a:ext cx="4988574" cy="17323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3568-3387-B4C7-3F8E-ABC32831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2551176"/>
            <a:ext cx="4214262" cy="3591207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Coarse regional attention</a:t>
            </a:r>
          </a:p>
          <a:p>
            <a:pPr algn="just"/>
            <a:r>
              <a:rPr lang="en-US" sz="2000" dirty="0"/>
              <a:t>Shows where the model focuses</a:t>
            </a:r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10" name="Picture 9" descr="A close-up of a person's eye&#10;&#10;AI-generated content may be incorrect.">
            <a:extLst>
              <a:ext uri="{FF2B5EF4-FFF2-40B4-BE49-F238E27FC236}">
                <a16:creationId xmlns:a16="http://schemas.microsoft.com/office/drawing/2014/main" id="{FC4BD295-7A29-CAAC-BF03-EF42B1A9C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48" y="4134554"/>
            <a:ext cx="4988574" cy="2110798"/>
          </a:xfrm>
          <a:prstGeom prst="rect">
            <a:avLst/>
          </a:prstGeom>
        </p:spPr>
      </p:pic>
      <p:pic>
        <p:nvPicPr>
          <p:cNvPr id="6" name="Picture 5" descr="A close-up of several images of different colors&#10;&#10;AI-generated content may be incorrect.">
            <a:extLst>
              <a:ext uri="{FF2B5EF4-FFF2-40B4-BE49-F238E27FC236}">
                <a16:creationId xmlns:a16="http://schemas.microsoft.com/office/drawing/2014/main" id="{877DBC4A-8E6A-F2C2-E722-BC4474719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47" y="612648"/>
            <a:ext cx="4988575" cy="16966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EE490-4967-46C3-5CF7-2C84B0B5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3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4308-1E21-C735-C163-5D132C01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pPr algn="ctr"/>
            <a:r>
              <a:rPr lang="en-US" sz="2800" b="1" dirty="0"/>
              <a:t>Integrated Gradients (IG)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739BD-6ACF-FBB4-29C4-31A65C55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Pixel-level attribution</a:t>
            </a:r>
          </a:p>
          <a:p>
            <a:pPr algn="just"/>
            <a:r>
              <a:rPr lang="en-US" sz="2000" dirty="0"/>
              <a:t>Shows how much each pixel contributes</a:t>
            </a:r>
          </a:p>
          <a:p>
            <a:pPr algn="just"/>
            <a:r>
              <a:rPr lang="en-US" sz="2000" dirty="0"/>
              <a:t>Prevents shortcut learning errors</a:t>
            </a:r>
          </a:p>
          <a:p>
            <a:r>
              <a:rPr lang="en-US" sz="2000" dirty="0"/>
              <a:t>Satisfies Sensitivity &amp; Implementation Invariance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5" name="Picture 4" descr="A collage of different colors of skin&#10;&#10;AI-generated content may be incorrect.">
            <a:extLst>
              <a:ext uri="{FF2B5EF4-FFF2-40B4-BE49-F238E27FC236}">
                <a16:creationId xmlns:a16="http://schemas.microsoft.com/office/drawing/2014/main" id="{C4AE01D6-CF41-33BB-2E43-A9FC9F792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" r="1754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4000A-495F-3486-F449-95E3B57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2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4407-DF31-8AC2-BCD4-DF61967F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SHAP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75AA8-A187-140F-5F3B-22B221A81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3" y="838200"/>
            <a:ext cx="5501247" cy="186635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Global &amp; local feature attribution</a:t>
            </a:r>
          </a:p>
          <a:p>
            <a:pPr algn="just"/>
            <a:r>
              <a:rPr lang="en-US" sz="2000" dirty="0"/>
              <a:t>Shows consistent patterns across dataset</a:t>
            </a:r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6" name="Picture 5" descr="A close up of a skin&#10;&#10;AI-generated content may be incorrect.">
            <a:extLst>
              <a:ext uri="{FF2B5EF4-FFF2-40B4-BE49-F238E27FC236}">
                <a16:creationId xmlns:a16="http://schemas.microsoft.com/office/drawing/2014/main" id="{382C665B-F782-B41F-805F-B88F86DD8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57" y="2853231"/>
            <a:ext cx="10591800" cy="35283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5313F-B89D-9F51-4395-2382D387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9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D0BDB-29EB-A025-A503-C4856B56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7910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XAI Comparison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26CFF7-8EA8-664A-CD71-9206F19E1D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8897" y="2040557"/>
            <a:ext cx="5064904" cy="37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2A59E43-1E98-CF98-0663-EE50C855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0724" y="2039775"/>
            <a:ext cx="5042379" cy="37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8B6BA-356B-37F8-9360-F7E10524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4671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2C4A282-A106-48C2-98FE-1F33BBC307E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75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71F8-9381-9FE9-41E2-47163AB93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77" y="969265"/>
            <a:ext cx="4649803" cy="557781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3600" b="1" dirty="0"/>
              <a:t>SOTA Comparison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E0842-3AF9-A62B-7C01-F58FAA021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677" y="1938528"/>
            <a:ext cx="4649803" cy="4674019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SOTA models (EfficientNet, ViT, Inception-v4) achieve high accuracy </a:t>
            </a:r>
          </a:p>
          <a:p>
            <a:pPr algn="just"/>
            <a:r>
              <a:rPr lang="en-US" sz="1800" dirty="0"/>
              <a:t>BUT: most offer weak interpretability </a:t>
            </a:r>
          </a:p>
          <a:p>
            <a:pPr algn="just"/>
            <a:r>
              <a:rPr lang="en-US" sz="1800" dirty="0"/>
              <a:t>This project integrates: </a:t>
            </a:r>
          </a:p>
          <a:p>
            <a:pPr algn="just"/>
            <a:r>
              <a:rPr lang="en-US" sz="1800" dirty="0"/>
              <a:t>Grad-CAM → global region </a:t>
            </a:r>
          </a:p>
          <a:p>
            <a:pPr algn="just"/>
            <a:r>
              <a:rPr lang="en-US" sz="1800" dirty="0"/>
              <a:t>IG → pixel-level precision</a:t>
            </a:r>
          </a:p>
          <a:p>
            <a:pPr algn="just"/>
            <a:r>
              <a:rPr lang="en-US" sz="1800" dirty="0"/>
              <a:t> SHAP → statistical insights</a:t>
            </a:r>
          </a:p>
          <a:p>
            <a:pPr algn="just"/>
            <a:r>
              <a:rPr lang="en-US" sz="1800" dirty="0"/>
              <a:t> Achieves balanced accuracy + superior transparency </a:t>
            </a:r>
          </a:p>
          <a:p>
            <a:pPr algn="just"/>
            <a:r>
              <a:rPr lang="en-US" sz="1800" dirty="0"/>
              <a:t>More clinically suitable than black-box SOTA CNNs</a:t>
            </a:r>
          </a:p>
          <a:p>
            <a:pPr marL="0" indent="0" algn="just">
              <a:buNone/>
            </a:pPr>
            <a:endParaRPr lang="en-US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E2EF60-39B7-214F-F93B-D2C1E8008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723238"/>
              </p:ext>
            </p:extLst>
          </p:nvPr>
        </p:nvGraphicFramePr>
        <p:xfrm>
          <a:off x="5294376" y="1335024"/>
          <a:ext cx="6563946" cy="5029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0102">
                  <a:extLst>
                    <a:ext uri="{9D8B030D-6E8A-4147-A177-3AD203B41FA5}">
                      <a16:colId xmlns:a16="http://schemas.microsoft.com/office/drawing/2014/main" val="138165033"/>
                    </a:ext>
                  </a:extLst>
                </a:gridCol>
                <a:gridCol w="1083695">
                  <a:extLst>
                    <a:ext uri="{9D8B030D-6E8A-4147-A177-3AD203B41FA5}">
                      <a16:colId xmlns:a16="http://schemas.microsoft.com/office/drawing/2014/main" val="3799721073"/>
                    </a:ext>
                  </a:extLst>
                </a:gridCol>
                <a:gridCol w="1292992">
                  <a:extLst>
                    <a:ext uri="{9D8B030D-6E8A-4147-A177-3AD203B41FA5}">
                      <a16:colId xmlns:a16="http://schemas.microsoft.com/office/drawing/2014/main" val="3990576839"/>
                    </a:ext>
                  </a:extLst>
                </a:gridCol>
                <a:gridCol w="1337713">
                  <a:extLst>
                    <a:ext uri="{9D8B030D-6E8A-4147-A177-3AD203B41FA5}">
                      <a16:colId xmlns:a16="http://schemas.microsoft.com/office/drawing/2014/main" val="2474926348"/>
                    </a:ext>
                  </a:extLst>
                </a:gridCol>
                <a:gridCol w="1509444">
                  <a:extLst>
                    <a:ext uri="{9D8B030D-6E8A-4147-A177-3AD203B41FA5}">
                      <a16:colId xmlns:a16="http://schemas.microsoft.com/office/drawing/2014/main" val="58818965"/>
                    </a:ext>
                  </a:extLst>
                </a:gridCol>
              </a:tblGrid>
              <a:tr h="6428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Accuracy (Approx.)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Explainability Provided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83553"/>
                  </a:ext>
                </a:extLst>
              </a:tr>
              <a:tr h="869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EfficientNet-B4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ISIC / HAM10000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92–94%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Grad-CAM (coarse)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High accuracy but limited pixel-level interpretability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220860"/>
                  </a:ext>
                </a:extLst>
              </a:tr>
              <a:tr h="1096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Vision Transformer (ViT)</a:t>
                      </a:r>
                      <a:endParaRPr lang="en-US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ISIC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90–93%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Minimal or Grad-CAM variants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Transformer attention maps do not provide clinical detail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195056"/>
                  </a:ext>
                </a:extLst>
              </a:tr>
              <a:tr h="869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Inception-v4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ISIC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89–92%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Grad-CAM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Strong feature extraction, weak explainability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40741"/>
                  </a:ext>
                </a:extLst>
              </a:tr>
              <a:tr h="15503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Proposed Model: ResNet50 + XAI (Grad-CAM + IG + SHAP)</a:t>
                      </a:r>
                      <a:endParaRPr lang="en-US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HAM10000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88–90%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>
                          <a:solidFill>
                            <a:schemeClr val="tx1"/>
                          </a:solidFill>
                        </a:rPr>
                        <a:t>Multi-level explainability: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regional (Grad-CAM), pixel-level (IG), global (SHAP)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0" cap="none" spc="0" dirty="0">
                          <a:solidFill>
                            <a:schemeClr val="tx1"/>
                          </a:solidFill>
                        </a:rPr>
                        <a:t>Slightly lower accuracy but far superior interpretability and clinical trust</a:t>
                      </a:r>
                    </a:p>
                  </a:txBody>
                  <a:tcPr marL="42043" marR="42043" marT="22411" marB="8408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99653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E46F-814B-7141-A949-2AC4008A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90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89FC3-AB52-B2D6-C195-6F3B1F69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308"/>
            <a:ext cx="5499970" cy="1021424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Future 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1440584"/>
            <a:ext cx="62119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F1EE68-D1D4-4391-EF05-CE1460703F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377235"/>
              </p:ext>
            </p:extLst>
          </p:nvPr>
        </p:nvGraphicFramePr>
        <p:xfrm>
          <a:off x="1392238" y="1682750"/>
          <a:ext cx="9407525" cy="42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252EE-A877-A5AA-7587-ED9770E7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46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emoji holding a sign&#10;&#10;AI-generated content may be incorrect.">
            <a:extLst>
              <a:ext uri="{FF2B5EF4-FFF2-40B4-BE49-F238E27FC236}">
                <a16:creationId xmlns:a16="http://schemas.microsoft.com/office/drawing/2014/main" id="{83582325-C963-10DC-FAA9-09720FF96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4CF0AC-10DB-14AA-2DEE-B90B9ABA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4A282-A106-48C2-98FE-1F33BBC307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503</Words>
  <Application>Microsoft Office PowerPoint</Application>
  <PresentationFormat>Widescreen</PresentationFormat>
  <Paragraphs>110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Explainable Deep Learning Framework for Skin Cancer Classification</vt:lpstr>
      <vt:lpstr>Problem Statement &amp; Dataset</vt:lpstr>
      <vt:lpstr>Preprocessing Pipeline</vt:lpstr>
      <vt:lpstr>Model Architecture</vt:lpstr>
      <vt:lpstr>Model Architecture</vt:lpstr>
      <vt:lpstr>Results</vt:lpstr>
      <vt:lpstr>Per-class Test Accuracy</vt:lpstr>
      <vt:lpstr>Grad-CAM</vt:lpstr>
      <vt:lpstr>Integrated Gradients (IG)</vt:lpstr>
      <vt:lpstr>SHAP</vt:lpstr>
      <vt:lpstr>XAI Comparison</vt:lpstr>
      <vt:lpstr>SOTA Comparison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Suriya Islam Chowdhury</dc:creator>
  <cp:lastModifiedBy>Suriya Islam Chowdhury</cp:lastModifiedBy>
  <cp:revision>29</cp:revision>
  <dcterms:created xsi:type="dcterms:W3CDTF">2025-12-10T21:13:35Z</dcterms:created>
  <dcterms:modified xsi:type="dcterms:W3CDTF">2025-12-12T09:28:03Z</dcterms:modified>
</cp:coreProperties>
</file>